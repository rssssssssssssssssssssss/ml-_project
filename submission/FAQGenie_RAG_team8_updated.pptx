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2" r:id="rId2"/>
    <p:sldMasterId id="2147483675" r:id="rId3"/>
    <p:sldMasterId id="2147483678" r:id="rId4"/>
    <p:sldMasterId id="2147483681" r:id="rId5"/>
  </p:sldMasterIdLst>
  <p:notesMasterIdLst>
    <p:notesMasterId r:id="rId24"/>
  </p:notes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9"/>
    <p:sldId id="276" r:id="rId3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68" name="Google Shape;76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9" name="Google Shape;769;p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1" name="Google Shape;771;p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74" name="Google Shape;774;p4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80" name="Google Shape;78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1" name="Google Shape;78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2" name="Google Shape;782;p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87" name="Google Shape;787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8" name="Google Shape;788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9" name="Google Shape;789;p6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0" name="Google Shape;790;p6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1" name="Google Shape;791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96" name="Google Shape;796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05" name="Google Shape;805;p9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6" name="Google Shape;80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7" name="Google Shape;807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12" name="Google Shape;812;p10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4" name="Google Shape;8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19" name="Google Shape;81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0" name="Google Shape;8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25" name="Google Shape;825;p12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6" name="Google Shape;8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"/>
          <p:cNvSpPr txBox="1">
            <a:spLocks noGrp="1"/>
          </p:cNvSpPr>
          <p:nvPr>
            <p:ph type="title"/>
          </p:nvPr>
        </p:nvSpPr>
        <p:spPr>
          <a:xfrm>
            <a:off x="838091" y="365084"/>
            <a:ext cx="105159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Poppins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43" name="Google Shape;84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4" name="Google Shape;84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49" name="Google Shape;84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50" name="Google Shape;850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55" name="Google Shape;855;p1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6" name="Google Shape;856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61" name="Google Shape;86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2" name="Google Shape;86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3" name="Google Shape;8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68" name="Google Shape;868;p2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9" name="Google Shape;869;p2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0" name="Google Shape;870;p2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1" name="Google Shape;871;p2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2" name="Google Shape;872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77" name="Google Shape;877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86" name="Google Shape;886;p2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7" name="Google Shape;88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8" name="Google Shape;888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93" name="Google Shape;893;p2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5" name="Google Shape;895;p2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00" name="Google Shape;90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1" name="Google Shape;901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06" name="Google Shape;906;p26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7" name="Google Shape;907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8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 panose="02020404030301010803"/>
              <a:buNone/>
              <a:defRPr sz="6000">
                <a:solidFill>
                  <a:schemeClr val="lt1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 panose="02020404030301010803"/>
              <a:buNone/>
              <a:defRPr sz="6000">
                <a:solidFill>
                  <a:schemeClr val="lt1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 preserve="1">
  <p:cSld name="1_Title Slide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38" name="Google Shape;938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52" name="Google Shape;95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53" name="Google Shape;953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58" name="Google Shape;9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9" name="Google Shape;959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64" name="Google Shape;964;p35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5" name="Google Shape;965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70" name="Google Shape;97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1" name="Google Shape;97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2" name="Google Shape;972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77" name="Google Shape;977;p3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8" name="Google Shape;978;p3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9" name="Google Shape;979;p37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0" name="Google Shape;980;p37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1" name="Google Shape;98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86" name="Google Shape;986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5" name="Google Shape;995;p40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6" name="Google Shape;996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7" name="Google Shape;997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02" name="Google Shape;1002;p41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4" name="Google Shape;1004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09" name="Google Shape;1009;p4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0" name="Google Shape;1010;p4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2" name="Google Shape;1012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3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15" name="Google Shape;1015;p43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6" name="Google Shape;1016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1" name="Google Shape;1021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37820" algn="l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721"/>
              <a:buChar char="⚫"/>
              <a:defRPr/>
            </a:lvl1pPr>
            <a:lvl2pPr marL="914400" lvl="1" indent="-301625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55"/>
              <a:buChar char="⚪"/>
              <a:defRPr/>
            </a:lvl2pPr>
            <a:lvl3pPr marL="1371600" lvl="2" indent="-2997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5"/>
              <a:buChar char="⯍"/>
              <a:defRPr/>
            </a:lvl3pPr>
            <a:lvl4pPr marL="1828800" lvl="3" indent="-295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?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2" name="Google Shape;1022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3.xml"/><Relationship Id="rId4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theme" Target="../theme/theme4.xml"/><Relationship Id="rId4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1.xml"/><Relationship Id="rId13" Type="http://schemas.openxmlformats.org/officeDocument/2006/relationships/theme" Target="../theme/theme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3" name="Google Shape;753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4" name="Google Shape;754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55" name="Google Shape;755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56" name="Google Shape;756;p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57" name="Google Shape;757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sp>
        <p:nvSpPr>
          <p:cNvPr id="758" name="Google Shape;758;p1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59" name="Google Shape;759;p1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4" name="Google Shape;834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5" name="Google Shape;8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36" name="Google Shape;836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37" name="Google Shape;837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38" name="Google Shape;838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sp>
        <p:nvSpPr>
          <p:cNvPr id="839" name="Google Shape;839;p15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840" name="Google Shape;840;p15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sp>
        <p:nvSpPr>
          <p:cNvPr id="916" name="Google Shape;916;p27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917" name="Google Shape;917;p27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8" name="Google Shape;918;p2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sp>
        <p:nvSpPr>
          <p:cNvPr id="927" name="Google Shape;927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928" name="Google Shape;928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9" name="Google Shape;929;p2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931" name="Google Shape;931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32" name="Google Shape;932;p2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3" name="Google Shape;943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4" name="Google Shape;9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45" name="Google Shape;945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46" name="Google Shape;946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sp>
        <p:nvSpPr>
          <p:cNvPr id="948" name="Google Shape;948;p32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49" name="Google Shape;949;p32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zendesk.com/" TargetMode="External"/><Relationship Id="rId4" Type="http://schemas.openxmlformats.org/officeDocument/2006/relationships/hyperlink" Target="https://freshworks.co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01168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1230062"/>
            <a:ext cx="12192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err="1">
                <a:solidFill>
                  <a:srgbClr val="FF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FAQGenie</a:t>
            </a:r>
            <a:r>
              <a:rPr lang="en-US" sz="2800" b="1" dirty="0">
                <a:solidFill>
                  <a:srgbClr val="FF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— Vernacular RAG Banking Assistant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923809"/>
            <a:ext cx="10588752" cy="1988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No: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8                                                                                              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Category: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216065"/>
            <a:ext cx="5120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COLLABORATOR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503170"/>
            <a:ext cx="512064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11" name="Text 9"/>
          <p:cNvSpPr/>
          <p:nvPr/>
        </p:nvSpPr>
        <p:spPr>
          <a:xfrm>
            <a:off x="6183086" y="2276127"/>
            <a:ext cx="5212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 GUIDE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83086" y="2471897"/>
            <a:ext cx="5212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T. Senthil Kumar, Professor, CSE Department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884932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40080" y="3274708"/>
          <a:ext cx="11274552" cy="21031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Roll No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Name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Photo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Email ID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Mobile No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GitHub URL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CB.SC.U4CSE24604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A.S.Chakradhar</a:t>
                      </a:r>
                      <a:endParaRPr 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100" dirty="0">
                          <a:solidFill>
                            <a:srgbClr val="1155C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cb.sc.u4cse24604@cb.students.amrita.edu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7671968093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100" dirty="0">
                          <a:solidFill>
                            <a:srgbClr val="1155C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github.com/Chakri745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CB.SC.U4CSE24650</a:t>
                      </a: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Sanjay Krishna K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100" dirty="0">
                          <a:solidFill>
                            <a:srgbClr val="1155C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cb.sc.u4cse24650@cb.students.amrita.edu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9080719404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100" dirty="0">
                          <a:solidFill>
                            <a:srgbClr val="1155C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github.com/Carcus0013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CB.SC.U4CSE24643</a:t>
                      </a: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R. S. Shyam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100" dirty="0">
                          <a:solidFill>
                            <a:srgbClr val="1155C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cb.sc.u4cse24643@cb.students.amrita.edu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9345788052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100" dirty="0">
                          <a:solidFill>
                            <a:srgbClr val="1155C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github.com/</a:t>
                      </a:r>
                      <a:r>
                        <a:rPr lang="en-US" sz="1100" dirty="0" err="1">
                          <a:solidFill>
                            <a:srgbClr val="1155C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rssssssssssssssssssssss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5317127"/>
            <a:ext cx="1155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LinkedIn Product Demo: 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[URL]   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					   GitHub Repository: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https://github.com/rssssssssssssssssssssss/ml-_project 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5761538"/>
            <a:ext cx="99408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presentation is prepared for </a:t>
            </a:r>
            <a:r>
              <a:rPr lang="en-US" sz="16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Course: Natural Language Processing(NLP) – (</a:t>
            </a:r>
            <a:r>
              <a:rPr lang="en-US" sz="1600" b="1" dirty="0">
                <a:solidFill>
                  <a:srgbClr val="ED1C2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23CSE471</a:t>
            </a:r>
            <a:r>
              <a:rPr lang="en-US" sz="16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</a:p>
        </p:txBody>
      </p:sp>
      <p:pic>
        <p:nvPicPr>
          <p:cNvPr id="22" name="Picture 2" descr="Amrita Vishwa Vidyapeetham, Coimbatore: Courses, Fees ..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25989" y="133557"/>
            <a:ext cx="965000" cy="943069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052" y="3727777"/>
            <a:ext cx="359263" cy="466536"/>
          </a:xfrm>
          <a:prstGeom prst="rect">
            <a:avLst/>
          </a:prstGeom>
        </p:spPr>
      </p:pic>
      <p:pic>
        <p:nvPicPr>
          <p:cNvPr id="2" name="Picture 1" descr="WhatsApp Image 2026-09-16 at 11.30.15 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435" y="4212590"/>
            <a:ext cx="405130" cy="5632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0" y="4824095"/>
            <a:ext cx="508000" cy="5378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Statement: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486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974408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0000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Objective: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846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Sub-Objectives:</a:t>
            </a:r>
          </a:p>
        </p:txBody>
      </p:sp>
      <p:sp>
        <p:nvSpPr>
          <p:cNvPr id="13" name="Text 11"/>
          <p:cNvSpPr/>
          <p:nvPr/>
        </p:nvSpPr>
        <p:spPr>
          <a:xfrm>
            <a:off x="7659500" y="480060"/>
            <a:ext cx="5577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Architecture diagram: </a:t>
            </a:r>
          </a:p>
        </p:txBody>
      </p:sp>
      <p:sp>
        <p:nvSpPr>
          <p:cNvPr id="25" name="Text 23"/>
          <p:cNvSpPr/>
          <p:nvPr/>
        </p:nvSpPr>
        <p:spPr>
          <a:xfrm>
            <a:off x="5989320" y="5394960"/>
            <a:ext cx="5577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5892" y="903711"/>
            <a:ext cx="52057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 RAG-based AI banking assistant that enables customers to interact through voice in regional languages and retrieves relevant information from trusted bank documents before generating accurate, context-aware responses.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892" y="2555386"/>
            <a:ext cx="52057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develop a RAG-based AI banking assistant that provides accurate, context-aware banking information through voice-based interaction in vernacular languages using trusted bank documents.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513" y="4023360"/>
            <a:ext cx="550342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 reliable document-based knowledge base by parsing, chunking, embedding, and storing bank documents using FAISS.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 relevant banking information from trusted documents using semantic similarity search.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vernacular voice interaction through speech-to-text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source-backed answers so users can verify the information provided.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468" y="868680"/>
            <a:ext cx="3482404" cy="5219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Similar Products in the Same Area: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263236" y="1417320"/>
          <a:ext cx="11285635" cy="3685281"/>
        </p:xfrm>
        <a:graphic>
          <a:graphicData uri="http://schemas.openxmlformats.org/drawingml/2006/table">
            <a:tbl>
              <a:tblPr/>
              <a:tblGrid>
                <a:gridCol w="1584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9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6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Product Name 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Arial" panose="020B0604020202020204"/>
                        </a:rPr>
                        <a:t>URL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Features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Limitation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Zendesk Answer Bot                     </a:t>
                      </a:r>
                    </a:p>
                  </a:txBody>
                  <a:tcPr marL="6350" marR="6350" marT="0" marB="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IN" sz="1400" b="0" i="0" u="sng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/>
                          <a:hlinkClick r:id="rId3"/>
                        </a:rPr>
                        <a:t>https://www.zendesk.com/</a:t>
                      </a:r>
                      <a:endParaRPr lang="en-IN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 panose="020B0604020202020204"/>
                      </a:endParaRPr>
                    </a:p>
                    <a:p>
                      <a:pPr marL="0" indent="0" algn="l">
                        <a:buNone/>
                      </a:pPr>
                      <a:endParaRPr lang="en-US" sz="1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AI-powered retrieval and recommendation of relevant help-</a:t>
                      </a:r>
                      <a:r>
                        <a:rPr lang="en-IN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center</a:t>
                      </a: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articles.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Often directs users to relevant articles rather than providing a fully customized banking-specific answer.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/>
                        </a:rPr>
                        <a:t>Freshdesk Freddy Self-Service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IN" sz="1400" b="0" i="0" u="sng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/>
                          <a:hlinkClick r:id="rId4"/>
                        </a:rPr>
                        <a:t>https://freshworks.com/</a:t>
                      </a:r>
                      <a:endParaRPr lang="en-IN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 panose="020B0604020202020204"/>
                      </a:endParaRPr>
                    </a:p>
                    <a:p>
                      <a:pPr marL="0" indent="0" algn="l">
                        <a:buNone/>
                      </a:pPr>
                      <a:endParaRPr lang="en-US" sz="1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AI-powered conversational support using knowledge-base content.</a:t>
                      </a: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0" marB="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General-purpose customer-support platform; not specifically designed for vernacular voice-based banking assistance.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1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Intercom Fin AI Agent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https://www.intercom.com/ai-chatbot</a:t>
                      </a:r>
                      <a:endParaRPr lang="en-US" sz="1400" dirty="0">
                        <a:solidFill>
                          <a:schemeClr val="accent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4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AI-powered conversational support &amp; knowledge retrieval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Commercial platform; not specifically focused on vernacular banking voice interaction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Abstract of Product: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03504" y="905536"/>
            <a:ext cx="6702365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dirty="0"/>
              <a:t>A voice-enabled RAG-based banking assistant that retrieves relevant information from trusted bank documents and generates accurate responses in vernacular languages, making banking information more accessible and reducing dependence on manual document/FAQ search.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Novelty: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724912" cy="3312367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8" name="Text 6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of the Art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359152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19272" y="2743200"/>
            <a:ext cx="2724912" cy="3312367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13" name="Text 11"/>
          <p:cNvSpPr/>
          <p:nvPr/>
        </p:nvSpPr>
        <p:spPr>
          <a:xfrm>
            <a:off x="3502152" y="2971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96512" y="297180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02152" y="3611880"/>
            <a:ext cx="2359152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81344" y="2743200"/>
            <a:ext cx="2724912" cy="3312367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18" name="Text 16"/>
          <p:cNvSpPr/>
          <p:nvPr/>
        </p:nvSpPr>
        <p:spPr>
          <a:xfrm>
            <a:off x="6364224" y="2971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58584" y="297180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Features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64224" y="3611880"/>
            <a:ext cx="2359152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43416" y="2743200"/>
            <a:ext cx="2724912" cy="3312367"/>
          </a:xfrm>
          <a:prstGeom prst="rect">
            <a:avLst/>
          </a:prstGeom>
          <a:solidFill>
            <a:srgbClr val="F4F6FC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9226296" y="2971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20656" y="297180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Gap Focused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226296" y="3611880"/>
            <a:ext cx="2359152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43416" y="3611880"/>
            <a:ext cx="272491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focus on vernacular voice-based banking assistance.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for accurate, document-grounded responses.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to make banking information more accessible to users who prefer regional-language voice interaction.</a:t>
            </a:r>
          </a:p>
          <a:p>
            <a:endParaRPr lang="en-IN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81344" y="3429000"/>
            <a:ext cx="26791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 parsing and intelligent chunking.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 retrieval from trusted bank documents.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Grounded, source-backed responses.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Vernacular voice interaction.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hallucination through document-based generation.</a:t>
            </a:r>
          </a:p>
          <a:p>
            <a:endParaRPr lang="en-IN" sz="1500" dirty="0"/>
          </a:p>
        </p:txBody>
      </p:sp>
      <p:sp>
        <p:nvSpPr>
          <p:cNvPr id="12" name="TextBox 11"/>
          <p:cNvSpPr txBox="1"/>
          <p:nvPr/>
        </p:nvSpPr>
        <p:spPr>
          <a:xfrm>
            <a:off x="3421536" y="3429000"/>
            <a:ext cx="192453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RAG-based AI Banking Assistant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FAISS + BAAI/bge-m3 + Qwen2.5:7B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voice-based vernacular interaction.</a:t>
            </a:r>
          </a:p>
          <a:p>
            <a:endParaRPr lang="en-IN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0729" y="3474720"/>
            <a:ext cx="268852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solutions provide FAQ, knowledge-base and AI-based customer support.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 improves responses by grounding them in trusted documents.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Voice and multilingual AI improve accessibility.</a:t>
            </a:r>
          </a:p>
          <a:p>
            <a:endParaRPr lang="en-IN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Member Contributions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contribution of each team member</a:t>
            </a: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206454"/>
          <a:ext cx="11274552" cy="31089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Member Name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Contribution (Technical)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A.S.Chakradhar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FAISS vector database by generating embeddings for banking documents; integrated the backend with the frontend for end-to-end RAG functionality.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Sanjay Krishna 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Backend RAG functionality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R.S.Shyam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Frontend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2608" y="228600"/>
            <a:ext cx="6629400" cy="438912"/>
          </a:xfrm>
          <a:prstGeom prst="rect">
            <a:avLst/>
          </a:prstGeom>
          <a:solidFill>
            <a:srgbClr val="1F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Overall Product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544068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078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1353312" cy="1874519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>
                <a:solidFill>
                  <a:srgbClr val="282D34"/>
                </a:solidFill>
                <a:latin typeface="Aptos"/>
              </a:rPr>
              <a:t>1. User Input
Voice / text query
in regional language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73352" y="2167128"/>
            <a:ext cx="182880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92808" y="1234440"/>
            <a:ext cx="1353312" cy="1874519"/>
          </a:xfrm>
          <a:prstGeom prst="roundRect">
            <a:avLst/>
          </a:prstGeom>
          <a:solidFill>
            <a:srgbClr val="E8F2EB"/>
          </a:solidFill>
          <a:ln w="15240">
            <a:solidFill>
              <a:srgbClr val="4C8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>
                <a:solidFill>
                  <a:srgbClr val="282D34"/>
                </a:solidFill>
                <a:latin typeface="Aptos"/>
              </a:rPr>
              <a:t>2. Speech Layer
Whisper STT
when voice is used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2167128"/>
            <a:ext cx="182880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65576" y="1234440"/>
            <a:ext cx="1353312" cy="1874519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>
                <a:solidFill>
                  <a:srgbClr val="282D34"/>
                </a:solidFill>
                <a:latin typeface="Aptos"/>
              </a:rPr>
              <a:t>3. Query Layer
Clean query +
semantic embedding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18888" y="2167128"/>
            <a:ext cx="182880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38344" y="1234440"/>
            <a:ext cx="1353312" cy="1874519"/>
          </a:xfrm>
          <a:prstGeom prst="roundRect">
            <a:avLst/>
          </a:prstGeom>
          <a:solidFill>
            <a:srgbClr val="E8F2EB"/>
          </a:solidFill>
          <a:ln w="15240">
            <a:solidFill>
              <a:srgbClr val="4C8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>
                <a:solidFill>
                  <a:srgbClr val="282D34"/>
                </a:solidFill>
                <a:latin typeface="Aptos"/>
              </a:rPr>
              <a:t>4. Retrieval
FAISS searches
trusted documents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91656" y="2167128"/>
            <a:ext cx="182880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11112" y="1234440"/>
            <a:ext cx="1353312" cy="1874519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>
                <a:solidFill>
                  <a:srgbClr val="282D34"/>
                </a:solidFill>
                <a:latin typeface="Aptos"/>
              </a:rPr>
              <a:t>5. LLM Layer
Qwen2.5:7B uses
retrieved context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64423" y="2167128"/>
            <a:ext cx="182881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83880" y="1234440"/>
            <a:ext cx="1353312" cy="1874519"/>
          </a:xfrm>
          <a:prstGeom prst="roundRect">
            <a:avLst/>
          </a:prstGeom>
          <a:solidFill>
            <a:srgbClr val="E8F2EB"/>
          </a:solidFill>
          <a:ln w="15240">
            <a:solidFill>
              <a:srgbClr val="4C8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 dirty="0">
                <a:solidFill>
                  <a:srgbClr val="282D34"/>
                </a:solidFill>
                <a:latin typeface="Aptos"/>
              </a:rPr>
              <a:t>6. Response
Grounded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F3753"/>
                </a:solidFill>
                <a:latin typeface="Aptos"/>
              </a:rPr>
              <a:t>Core principle: retrieve first → generate from verified context → present an understandable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2608" y="228600"/>
            <a:ext cx="6629400" cy="438912"/>
          </a:xfrm>
          <a:prstGeom prst="rect">
            <a:avLst/>
          </a:prstGeom>
          <a:solidFill>
            <a:srgbClr val="1F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544068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078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2514600" cy="141732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Interface
React.js
Web Audio API
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3288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97078"/>
                </a:solidFill>
                <a:latin typeface="Aptos"/>
              </a:rPr>
              <a:t>Frontend / voice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51560"/>
            <a:ext cx="2514600" cy="141732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Backend
Python
FastAPI
Pydantic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53288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97078"/>
                </a:solidFill>
                <a:latin typeface="Aptos"/>
              </a:rPr>
              <a:t>API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51560"/>
            <a:ext cx="2514600" cy="141732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>
              <a:defRPr sz="1300" b="1">
                <a:solidFill>
                  <a:srgbClr val="282D34"/>
                </a:solidFill>
                <a:latin typeface="Aptos"/>
              </a:defRPr>
            </a:pPr>
            <a:r>
              <a:t>Speech (SLM)</a:t>
            </a:r>
            <a:br/>
            <a:r>
              <a:t>openai/whisper-small</a:t>
            </a:r>
            <a:br/>
            <a:r>
              <a:t>FP16 CUDA (244M params)</a:t>
            </a:r>
            <a:endParaRPr sz="1300" b="1" dirty="0">
              <a:solidFill>
                <a:srgbClr val="282D3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253288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97078"/>
                </a:solidFill>
                <a:latin typeface="Aptos"/>
              </a:rPr>
              <a:t>Vernacular voice →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926079"/>
            <a:ext cx="2514600" cy="1417320"/>
          </a:xfrm>
          <a:prstGeom prst="roundRect">
            <a:avLst/>
          </a:prstGeom>
          <a:solidFill>
            <a:srgbClr val="F4EFE5"/>
          </a:solidFill>
          <a:ln w="15240">
            <a:solidFill>
              <a:srgbClr val="D3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>
              <a:defRPr sz="1300" b="1">
                <a:solidFill>
                  <a:srgbClr val="282D34"/>
                </a:solidFill>
                <a:latin typeface="Aptos"/>
              </a:defRPr>
            </a:pPr>
            <a:r>
              <a:t>RAG &amp; Embeddings</a:t>
            </a:r>
            <a:br/>
            <a:r>
              <a:t>BAAI/bge-m3 (SLM)</a:t>
            </a:r>
            <a:br/>
            <a:r>
              <a:t>FAISS (IndexFlatIP)</a:t>
            </a:r>
            <a:endParaRPr sz="1300" b="1">
              <a:solidFill>
                <a:srgbClr val="282D3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1480" y="4407407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97078"/>
                </a:solidFill>
                <a:latin typeface="Aptos"/>
              </a:rPr>
              <a:t>Embeddings + retrieval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926079"/>
            <a:ext cx="2514600" cy="1417320"/>
          </a:xfrm>
          <a:prstGeom prst="roundRect">
            <a:avLst/>
          </a:prstGeom>
          <a:solidFill>
            <a:srgbClr val="F4EFE5"/>
          </a:solidFill>
          <a:ln w="15240">
            <a:solidFill>
              <a:srgbClr val="D3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>
              <a:defRPr sz="1300" b="1">
                <a:solidFill>
                  <a:srgbClr val="282D34"/>
                </a:solidFill>
                <a:latin typeface="Aptos"/>
              </a:defRPr>
            </a:pPr>
            <a:r>
              <a:t>LLM Generation</a:t>
            </a:r>
            <a:br/>
            <a:r>
              <a:t>Qwen2.5:7B-Instruct</a:t>
            </a:r>
            <a:br/>
            <a:r>
              <a:t>Ollama Local Serving</a:t>
            </a:r>
            <a:endParaRPr sz="1300" b="1">
              <a:solidFill>
                <a:srgbClr val="282D3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91840" y="4407407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97078"/>
                </a:solidFill>
                <a:latin typeface="Aptos"/>
              </a:rPr>
              <a:t>Context-grounded generation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26079"/>
            <a:ext cx="2514600" cy="1417320"/>
          </a:xfrm>
          <a:prstGeom prst="roundRect">
            <a:avLst/>
          </a:prstGeom>
          <a:solidFill>
            <a:srgbClr val="F4EFE5"/>
          </a:solidFill>
          <a:ln w="15240">
            <a:solidFill>
              <a:srgbClr val="D3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Data
Bank PDFs / trusted docs
Mock banking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407407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97078"/>
                </a:solidFill>
                <a:latin typeface="Aptos"/>
              </a:rPr>
              <a:t>Knowledge source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2608" y="228600"/>
            <a:ext cx="6629400" cy="438912"/>
          </a:xfrm>
          <a:prstGeom prst="rect">
            <a:avLst/>
          </a:prstGeom>
          <a:solidFill>
            <a:srgbClr val="1F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RAG Knowledge-Building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544068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078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753"/>
                </a:solidFill>
                <a:latin typeface="Aptos"/>
              </a:rPr>
              <a:t>Document ingestion is separated into small, testable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749039" cy="96012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loader.py
Load source banking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417320"/>
            <a:ext cx="3749039" cy="96012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chunker.py
Split documents into retrieval-sized chunks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51760"/>
            <a:ext cx="3749039" cy="96012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embedding_service.py
Generate vector embeddings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651760"/>
            <a:ext cx="3749039" cy="96012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vector_store.py
Persist / access the FAISS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3749039" cy="96012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ingest.py
Orchestrate loading → chunking → embedding → indexing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886200"/>
            <a:ext cx="3749039" cy="96012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config.py
Central configuration for RAG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C8C69"/>
                </a:solidFill>
                <a:latin typeface="Aptos"/>
              </a:rPr>
              <a:t>Indexed knowledge base: trusted banking content → chunked passages → embeddings → FAISS vector store.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2608" y="228600"/>
            <a:ext cx="6629400" cy="438912"/>
          </a:xfrm>
          <a:prstGeom prst="rect">
            <a:avLst/>
          </a:prstGeom>
          <a:solidFill>
            <a:srgbClr val="1F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Query &amp; Retrieval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544068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07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920240" cy="132588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query.py
Accept and prepare
user query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2084831"/>
            <a:ext cx="347472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34640" y="1417320"/>
            <a:ext cx="1920240" cy="1325880"/>
          </a:xfrm>
          <a:prstGeom prst="roundRect">
            <a:avLst/>
          </a:prstGeom>
          <a:solidFill>
            <a:srgbClr val="E8F2EB"/>
          </a:solidFill>
          <a:ln w="15240">
            <a:solidFill>
              <a:srgbClr val="4C8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retriever.py
Semantic search
against FAISS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2084831"/>
            <a:ext cx="347472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66360" y="1417320"/>
            <a:ext cx="1920240" cy="132588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test_retriever.py
Validate retrieval
quality / behavior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6600" y="2084831"/>
            <a:ext cx="347472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0" y="1417320"/>
            <a:ext cx="1920240" cy="1325880"/>
          </a:xfrm>
          <a:prstGeom prst="roundRect">
            <a:avLst/>
          </a:prstGeom>
          <a:solidFill>
            <a:srgbClr val="E8F2EB"/>
          </a:solidFill>
          <a:ln w="15240">
            <a:solidFill>
              <a:srgbClr val="4C8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server.py
Expose RAG
through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063240"/>
            <a:ext cx="2743200" cy="731520"/>
          </a:xfrm>
          <a:prstGeom prst="roundRect">
            <a:avLst/>
          </a:prstGeom>
          <a:solidFill>
            <a:srgbClr val="F4EFE5"/>
          </a:solidFill>
          <a:ln w="15240">
            <a:solidFill>
              <a:srgbClr val="D3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500" b="1">
                <a:solidFill>
                  <a:srgbClr val="282D34"/>
                </a:solidFill>
                <a:latin typeface="Aptos"/>
              </a:rPr>
              <a:t>Top-k retrieved chunks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2743200"/>
            <a:ext cx="914400" cy="32004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160520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3753"/>
                </a:solidFill>
                <a:latin typeface="Aptos"/>
              </a:rPr>
              <a:t>Retrieval objective: select the most semantically relevant passages before the LLM generates the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2608" y="228600"/>
            <a:ext cx="6629400" cy="438912"/>
          </a:xfrm>
          <a:prstGeom prst="rect">
            <a:avLst/>
          </a:prstGeom>
          <a:solidFill>
            <a:srgbClr val="1F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LLM Module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544068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078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2011680" cy="68580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500" b="1">
                <a:solidFill>
                  <a:srgbClr val="282D34"/>
                </a:solidFill>
                <a:latin typeface="Aptos"/>
              </a:rPr>
              <a:t>USER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2011680" cy="685800"/>
          </a:xfrm>
          <a:prstGeom prst="roundRect">
            <a:avLst/>
          </a:prstGeom>
          <a:solidFill>
            <a:srgbClr val="F4EFE5"/>
          </a:solidFill>
          <a:ln w="15240">
            <a:solidFill>
              <a:srgbClr val="D3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400" b="1">
                <a:solidFill>
                  <a:srgbClr val="282D34"/>
                </a:solidFill>
                <a:latin typeface="Aptos"/>
              </a:rPr>
              <a:t>RETRIEVED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00400"/>
            <a:ext cx="2011680" cy="777240"/>
          </a:xfrm>
          <a:prstGeom prst="roundRect">
            <a:avLst/>
          </a:prstGeom>
          <a:solidFill>
            <a:srgbClr val="E8F2EB"/>
          </a:solidFill>
          <a:ln w="15240">
            <a:solidFill>
              <a:srgbClr val="4C8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282D34"/>
                </a:solidFill>
                <a:latin typeface="Aptos"/>
              </a:rPr>
              <a:t>SYSTEM INSTRUCTION
Answer from provided context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1435608"/>
            <a:ext cx="1143000" cy="484632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514600" y="1920240"/>
            <a:ext cx="1143000" cy="566928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514600" y="1920240"/>
            <a:ext cx="1143000" cy="1664208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0" y="1325880"/>
            <a:ext cx="2560320" cy="1234440"/>
          </a:xfrm>
          <a:prstGeom prst="roundRect">
            <a:avLst/>
          </a:prstGeom>
          <a:solidFill>
            <a:srgbClr val="E8F2EB"/>
          </a:solidFill>
          <a:ln w="15240">
            <a:solidFill>
              <a:srgbClr val="4C8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800" b="1">
                <a:solidFill>
                  <a:srgbClr val="282D34"/>
                </a:solidFill>
                <a:latin typeface="Aptos"/>
              </a:rPr>
              <a:t>Qwen2.5:7B
LLM GENERATION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0" y="1920240"/>
            <a:ext cx="1143000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1325880"/>
            <a:ext cx="2286000" cy="123444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400" b="1">
                <a:solidFill>
                  <a:srgbClr val="282D34"/>
                </a:solidFill>
                <a:latin typeface="Aptos"/>
              </a:rPr>
              <a:t>GROUNDED RESPONSE
Clear + context-aware
Vernacular-friendly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7863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3753"/>
                </a:solidFill>
                <a:latin typeface="Aptos"/>
              </a:rPr>
              <a:t>LLM role: generation, not knowledge retrieval. The retriever supplies the evidence used to formulate the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2608" y="228600"/>
            <a:ext cx="6629400" cy="438912"/>
          </a:xfrm>
          <a:prstGeom prst="rect">
            <a:avLst/>
          </a:prstGeom>
          <a:solidFill>
            <a:srgbClr val="1F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End-to-End System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544068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078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960120"/>
            <a:ext cx="438912" cy="457200"/>
          </a:xfrm>
          <a:prstGeom prst="roundRect">
            <a:avLst/>
          </a:prstGeom>
          <a:solidFill>
            <a:srgbClr val="1F3753"/>
          </a:solidFill>
          <a:ln w="15240">
            <a:solidFill>
              <a:srgbClr val="1F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960120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753"/>
                </a:solidFill>
                <a:latin typeface="Aptos"/>
              </a:rPr>
              <a:t>Capture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" y="1417320"/>
            <a:ext cx="0" cy="246888"/>
          </a:xfrm>
          <a:prstGeom prst="line">
            <a:avLst/>
          </a:prstGeom>
          <a:ln w="152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1673352"/>
            <a:ext cx="438912" cy="457200"/>
          </a:xfrm>
          <a:prstGeom prst="roundRect">
            <a:avLst/>
          </a:prstGeom>
          <a:solidFill>
            <a:srgbClr val="1F3753"/>
          </a:solidFill>
          <a:ln w="15240">
            <a:solidFill>
              <a:srgbClr val="1F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73352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753"/>
                </a:solidFill>
                <a:latin typeface="Aptos"/>
              </a:rPr>
              <a:t>Transcribe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673352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D34"/>
                </a:solidFill>
                <a:latin typeface="Aptos"/>
              </a:rPr>
              <a:t>Whisper converts speech to text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6" y="2130552"/>
            <a:ext cx="0" cy="246888"/>
          </a:xfrm>
          <a:prstGeom prst="line">
            <a:avLst/>
          </a:prstGeom>
          <a:ln w="152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" y="2386584"/>
            <a:ext cx="438912" cy="457200"/>
          </a:xfrm>
          <a:prstGeom prst="roundRect">
            <a:avLst/>
          </a:prstGeom>
          <a:solidFill>
            <a:srgbClr val="1F3753"/>
          </a:solidFill>
          <a:ln w="15240">
            <a:solidFill>
              <a:srgbClr val="1F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386584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753"/>
                </a:solidFill>
                <a:latin typeface="Aptos"/>
              </a:rPr>
              <a:t>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386584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D34"/>
                </a:solidFill>
                <a:latin typeface="Aptos"/>
              </a:rPr>
              <a:t>Convert query into semantic vector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096" y="2843784"/>
            <a:ext cx="0" cy="246888"/>
          </a:xfrm>
          <a:prstGeom prst="line">
            <a:avLst/>
          </a:prstGeom>
          <a:ln w="152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3099816"/>
            <a:ext cx="438912" cy="457200"/>
          </a:xfrm>
          <a:prstGeom prst="roundRect">
            <a:avLst/>
          </a:prstGeom>
          <a:solidFill>
            <a:srgbClr val="1F3753"/>
          </a:solidFill>
          <a:ln w="15240">
            <a:solidFill>
              <a:srgbClr val="1F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99816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753"/>
                </a:solidFill>
                <a:latin typeface="Aptos"/>
              </a:rPr>
              <a:t>Retrieve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099816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D34"/>
                </a:solidFill>
                <a:latin typeface="Aptos"/>
              </a:rPr>
              <a:t>FAISS returns relevant bank passages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8096" y="3557016"/>
            <a:ext cx="0" cy="246888"/>
          </a:xfrm>
          <a:prstGeom prst="line">
            <a:avLst/>
          </a:prstGeom>
          <a:ln w="152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3813048"/>
            <a:ext cx="438912" cy="457200"/>
          </a:xfrm>
          <a:prstGeom prst="roundRect">
            <a:avLst/>
          </a:prstGeom>
          <a:solidFill>
            <a:srgbClr val="1F3753"/>
          </a:solidFill>
          <a:ln w="15240">
            <a:solidFill>
              <a:srgbClr val="1F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813048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753"/>
                </a:solidFill>
                <a:latin typeface="Aptos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813048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D34"/>
                </a:solidFill>
                <a:latin typeface="Aptos"/>
              </a:rPr>
              <a:t>Qwen2.5:7B answers using retrieved context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8096" y="4270248"/>
            <a:ext cx="0" cy="246888"/>
          </a:xfrm>
          <a:prstGeom prst="line">
            <a:avLst/>
          </a:prstGeom>
          <a:ln w="1524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48640" y="4526280"/>
            <a:ext cx="438912" cy="457200"/>
          </a:xfrm>
          <a:prstGeom prst="roundRect">
            <a:avLst/>
          </a:prstGeom>
          <a:solidFill>
            <a:srgbClr val="1F3753"/>
          </a:solidFill>
          <a:ln w="15240">
            <a:solidFill>
              <a:srgbClr val="1F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526280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753"/>
                </a:solidFill>
                <a:latin typeface="Aptos"/>
              </a:rPr>
              <a:t>Deliver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526280"/>
            <a:ext cx="69494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82D34"/>
                </a:solidFill>
                <a:latin typeface="Aptos"/>
              </a:rPr>
              <a:t>Text response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920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4C8C69"/>
                </a:solidFill>
                <a:latin typeface="Aptos"/>
              </a:rPr>
              <a:t>Data path: User → Speech/NLP → Retrieval → LLM → Grounded Response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2608" y="228600"/>
            <a:ext cx="6629400" cy="438912"/>
          </a:xfrm>
          <a:prstGeom prst="rect">
            <a:avLst/>
          </a:prstGeom>
          <a:solidFill>
            <a:srgbClr val="1F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RAG Module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544068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078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1828800" cy="502920"/>
          </a:xfrm>
          <a:prstGeom prst="roundRect">
            <a:avLst/>
          </a:prstGeom>
          <a:solidFill>
            <a:srgbClr val="1F3753"/>
          </a:solidFill>
          <a:ln w="15240">
            <a:solidFill>
              <a:srgbClr val="1F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KNOWLEDGE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45920"/>
            <a:ext cx="1783080" cy="91440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100" b="1">
                <a:solidFill>
                  <a:srgbClr val="282D34"/>
                </a:solidFill>
                <a:latin typeface="Aptos"/>
              </a:rPr>
              <a:t>loader.py
documents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103120"/>
            <a:ext cx="228600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68880" y="1645920"/>
            <a:ext cx="1783080" cy="91440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100" b="1">
                <a:solidFill>
                  <a:srgbClr val="282D34"/>
                </a:solidFill>
                <a:latin typeface="Aptos"/>
              </a:rPr>
              <a:t>chunker.py
chunks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51960" y="2103120"/>
            <a:ext cx="228600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26280" y="1645920"/>
            <a:ext cx="1783080" cy="91440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100" b="1">
                <a:solidFill>
                  <a:srgbClr val="282D34"/>
                </a:solidFill>
                <a:latin typeface="Aptos"/>
              </a:rPr>
              <a:t>embedding_service.py
vectors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09360" y="2103120"/>
            <a:ext cx="228600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0" y="1645920"/>
            <a:ext cx="1783080" cy="91440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100" b="1">
                <a:solidFill>
                  <a:srgbClr val="282D34"/>
                </a:solidFill>
                <a:latin typeface="Aptos"/>
              </a:rPr>
              <a:t>vector_store.py
FAISS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88920"/>
            <a:ext cx="1828800" cy="502920"/>
          </a:xfrm>
          <a:prstGeom prst="roundRect">
            <a:avLst/>
          </a:prstGeom>
          <a:solidFill>
            <a:srgbClr val="1F3753"/>
          </a:solidFill>
          <a:ln w="15240">
            <a:solidFill>
              <a:srgbClr val="1F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QUERY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474720"/>
            <a:ext cx="2331720" cy="868680"/>
          </a:xfrm>
          <a:prstGeom prst="roundRect">
            <a:avLst/>
          </a:prstGeom>
          <a:solidFill>
            <a:srgbClr val="E8F2EB"/>
          </a:solidFill>
          <a:ln w="15240">
            <a:solidFill>
              <a:srgbClr val="4C8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>
                <a:solidFill>
                  <a:srgbClr val="282D34"/>
                </a:solidFill>
                <a:latin typeface="Aptos"/>
              </a:rPr>
              <a:t>query.py
query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46120" y="3904487"/>
            <a:ext cx="365760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0" y="3474720"/>
            <a:ext cx="2331720" cy="868680"/>
          </a:xfrm>
          <a:prstGeom prst="roundRect">
            <a:avLst/>
          </a:prstGeom>
          <a:solidFill>
            <a:srgbClr val="E8F2EB"/>
          </a:solidFill>
          <a:ln w="15240">
            <a:solidFill>
              <a:srgbClr val="4C8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>
                <a:solidFill>
                  <a:srgbClr val="282D34"/>
                </a:solidFill>
                <a:latin typeface="Aptos"/>
              </a:rPr>
              <a:t>retriever.py
top-k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9320" y="3904487"/>
            <a:ext cx="365760" cy="0"/>
          </a:xfrm>
          <a:prstGeom prst="line">
            <a:avLst/>
          </a:prstGeom>
          <a:ln w="190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0" y="3474720"/>
            <a:ext cx="2331720" cy="868680"/>
          </a:xfrm>
          <a:prstGeom prst="roundRect">
            <a:avLst/>
          </a:prstGeom>
          <a:solidFill>
            <a:srgbClr val="E8F2EB"/>
          </a:solidFill>
          <a:ln w="15240">
            <a:solidFill>
              <a:srgbClr val="4C8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>
                <a:solidFill>
                  <a:srgbClr val="282D34"/>
                </a:solidFill>
                <a:latin typeface="Aptos"/>
              </a:rPr>
              <a:t>server.py
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34840"/>
            <a:ext cx="1828800" cy="502920"/>
          </a:xfrm>
          <a:prstGeom prst="roundRect">
            <a:avLst/>
          </a:prstGeom>
          <a:solidFill>
            <a:srgbClr val="1F3753"/>
          </a:solidFill>
          <a:ln w="15240">
            <a:solidFill>
              <a:srgbClr val="1F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GENERATION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903799"/>
            <a:ext cx="5303520" cy="777240"/>
          </a:xfrm>
          <a:prstGeom prst="roundRect">
            <a:avLst/>
          </a:prstGeom>
          <a:solidFill>
            <a:srgbClr val="F4EFE5"/>
          </a:solidFill>
          <a:ln w="15240">
            <a:solidFill>
              <a:srgbClr val="D3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400" b="1" dirty="0">
                <a:solidFill>
                  <a:srgbClr val="282D34"/>
                </a:solidFill>
                <a:latin typeface="Aptos"/>
              </a:rPr>
              <a:t>Retrieved context + user query
→ Qwen2.5:7B → grounded answer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2608" y="228600"/>
            <a:ext cx="6629400" cy="438912"/>
          </a:xfrm>
          <a:prstGeom prst="rect">
            <a:avLst/>
          </a:prstGeom>
          <a:solidFill>
            <a:srgbClr val="1F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Reliability &amp; Grounding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544068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97078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960120"/>
            <a:ext cx="411480" cy="411480"/>
          </a:xfrm>
          <a:prstGeom prst="roundRect">
            <a:avLst/>
          </a:prstGeom>
          <a:solidFill>
            <a:srgbClr val="3D78BE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960120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753"/>
                </a:solidFill>
                <a:latin typeface="Aptos"/>
              </a:rPr>
              <a:t>Trusted source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9601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D34"/>
                </a:solidFill>
                <a:latin typeface="Aptos"/>
              </a:rPr>
              <a:t>The knowledge base is built from bank-provided / trusted documents.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64792"/>
            <a:ext cx="411480" cy="411480"/>
          </a:xfrm>
          <a:prstGeom prst="roundRect">
            <a:avLst/>
          </a:prstGeom>
          <a:solidFill>
            <a:srgbClr val="3D78BE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764792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753"/>
                </a:solidFill>
                <a:latin typeface="Aptos"/>
              </a:rPr>
              <a:t>Semantic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6479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D34"/>
                </a:solidFill>
                <a:latin typeface="Aptos"/>
              </a:rPr>
              <a:t>Embeddings and FAISS retrieve passages by meaning rather than exact keywords.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9464"/>
            <a:ext cx="411480" cy="411480"/>
          </a:xfrm>
          <a:prstGeom prst="roundRect">
            <a:avLst/>
          </a:prstGeom>
          <a:solidFill>
            <a:srgbClr val="3D78BE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69464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753"/>
                </a:solidFill>
                <a:latin typeface="Aptos"/>
              </a:rPr>
              <a:t>Context-first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69464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D34"/>
                </a:solidFill>
                <a:latin typeface="Aptos"/>
              </a:rPr>
              <a:t>The LLM receives retrieved passages as context before generating the answer.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74136"/>
            <a:ext cx="411480" cy="411480"/>
          </a:xfrm>
          <a:prstGeom prst="roundRect">
            <a:avLst/>
          </a:prstGeom>
          <a:solidFill>
            <a:srgbClr val="3D78BE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374136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753"/>
                </a:solidFill>
                <a:latin typeface="Aptos"/>
              </a:rPr>
              <a:t>Source-backed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374136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D34"/>
                </a:solidFill>
                <a:latin typeface="Aptos"/>
              </a:rPr>
              <a:t>Relevant source content can be surfaced so users can verify the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78808"/>
            <a:ext cx="411480" cy="411480"/>
          </a:xfrm>
          <a:prstGeom prst="roundRect">
            <a:avLst/>
          </a:prstGeom>
          <a:solidFill>
            <a:srgbClr val="3D78BE"/>
          </a:solidFill>
          <a:ln w="15240">
            <a:solidFill>
              <a:srgbClr val="3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178808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753"/>
                </a:solidFill>
                <a:latin typeface="Aptos"/>
              </a:rPr>
              <a:t>Modular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178808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D34"/>
                </a:solidFill>
                <a:latin typeface="Aptos"/>
              </a:rPr>
              <a:t>test_retriever.py provides a dedicated point for validating retrieval behavior.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2608" y="228600"/>
            <a:ext cx="6629400" cy="43891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Model Hierarchy: LLMs vs. SLMs in FAQGenie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07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7543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  <a:latin typeface="Aptos"/>
              </a:defRPr>
            </a:pPr>
            <a:r>
              <a:rPr dirty="0"/>
              <a:t>Mapping course foundational architectures to </a:t>
            </a:r>
            <a:r>
              <a:rPr dirty="0" err="1"/>
              <a:t>FAQGenie's</a:t>
            </a:r>
            <a:r>
              <a:rPr dirty="0"/>
              <a:t> hybrid edge-pipeline: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3444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 / Model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Parameters / Sizing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Architecture &amp; Objective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 in FAQGenie Banking System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Qwen2.5:7B-Instruct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LLM (Generative)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7.61 Billion</a:t>
                      </a:r>
                    </a:p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(~15.2 GB FP16 / 4.7 GB Q4)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Decoder-only Transformer</a:t>
                      </a:r>
                    </a:p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RoPE, RMSNorm, SwiGLU, GQA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Synthesizes final banking answers strictly grounded on retrieved passages; prevents hallucinations.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Whisper-Small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SLM (Perception)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244 Million</a:t>
                      </a:r>
                    </a:p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(Encoder-Decoder)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Encoder-Decoder Seq2Seq</a:t>
                      </a:r>
                    </a:p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Cross-attention speech-to-text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Transcribes vernacular user speech (Hindi, Telugu, Tamil, English) into text on GPU in &lt;350ms.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BAAI/bge-m3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SLM (Embedding)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568 Million</a:t>
                      </a:r>
                    </a:p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(Encoder-only)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Encoder-only dense &amp; sparse</a:t>
                      </a:r>
                    </a:p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Multi-linguality (1024-dim)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Transforms queries &amp; banking policy documents into semantic vector representations for FAISS retrieval.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3931920"/>
            <a:ext cx="3657600" cy="2103120"/>
          </a:xfrm>
          <a:prstGeom prst="roundRect">
            <a:avLst/>
          </a:prstGeom>
          <a:solidFill>
            <a:srgbClr val="F0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65D"/>
                </a:solidFill>
                <a:latin typeface="Aptos"/>
              </a:defRPr>
            </a:pPr>
            <a:r>
              <a:t>Compute-Optimal vs SLMs (Chinchilla)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t>Standard LLMs train at ~20 tokens/param. SLMs like Whisper &amp; BGE-m3 are intentionally overtrained to lower per-request inference FLOPs at inference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931920"/>
            <a:ext cx="3657600" cy="2103120"/>
          </a:xfrm>
          <a:prstGeom prst="roundRect">
            <a:avLst/>
          </a:prstGeom>
          <a:solidFill>
            <a:srgbClr val="F0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65D"/>
                </a:solidFill>
                <a:latin typeface="Aptos"/>
              </a:defRPr>
            </a:pPr>
            <a:r>
              <a:t>Grouped-Query Attention (GQA)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t>Qwen2.5 utilizes GQA, dramatically reducing KV cache memory footprint (2 x layers x KV-heads x head-dim x seq-len) during multi-turn banking dialogues.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931920"/>
            <a:ext cx="3657600" cy="2103120"/>
          </a:xfrm>
          <a:prstGeom prst="roundRect">
            <a:avLst/>
          </a:prstGeom>
          <a:solidFill>
            <a:srgbClr val="F0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65D"/>
                </a:solidFill>
                <a:latin typeface="Aptos"/>
              </a:defRPr>
            </a:pPr>
            <a:r>
              <a:t>Local Privacy &amp; Zero SaaS Leakage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t>By running SLMs + 7B LLM on local hardware, sensitive customer financial questions and banking documents never leave customer boundary.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2608" y="228600"/>
            <a:ext cx="6629400" cy="43891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Adaptation Rationale: RAG vs. Fine-Tuning (LoRA / QLoRA)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078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939" y="858417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  <a:latin typeface="Aptos"/>
              </a:defRPr>
            </a:pPr>
            <a:r>
              <a:rPr dirty="0"/>
              <a:t>Analysis of model adaptation stages (Continued Pretraining, SFT, </a:t>
            </a:r>
            <a:r>
              <a:rPr dirty="0" err="1"/>
              <a:t>LoRA</a:t>
            </a:r>
            <a:r>
              <a:rPr dirty="0"/>
              <a:t>/</a:t>
            </a:r>
            <a:r>
              <a:rPr dirty="0" err="1"/>
              <a:t>QLoRA</a:t>
            </a:r>
            <a:r>
              <a:rPr dirty="0"/>
              <a:t>, RLHF) vs. RAG for Banking: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3444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Training Data / Stage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Compute &amp; Memory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Knowledge Freshness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Suitability for Banking FAQ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Continued Pre-training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Raw banking corpus (unsupervised)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Extremely High (Multi-GPU clusters, 100s GPU hrs)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Static; requires full rerun on interest rate changes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Unsuitable: Cost-prohibitive, prone to catastrophic forgetting.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Fine-Tuning (SFT / LoRA)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Instruction pairs: W' = W + (α/r)·B·A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rPr dirty="0"/>
                        <a:t>Moderate (</a:t>
                      </a:r>
                      <a:r>
                        <a:rPr dirty="0" err="1"/>
                        <a:t>QLoRA</a:t>
                      </a:r>
                      <a:r>
                        <a:rPr dirty="0"/>
                        <a:t> 4-bit NF4 saves VRAM)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Static; fine-tuning does not reliably inject new facts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Sub-optimal: Fails to update dynamic interest rates or branch timings.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Alignment (RLHF / DPO)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Preference ranked pairs (chosen vs rejected)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High; policy optimization against reward model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Aligns style, helpfulness and safety, not live knowledge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Complementary: Good for safety guardrails, not factual lookup.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rPr dirty="0" err="1"/>
                        <a:t>FAQGenie</a:t>
                      </a:r>
                      <a:r>
                        <a:rPr dirty="0"/>
                        <a:t> RAG (Selected)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Trusted bank PDFs indexed into FAISS vectors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Zero training FLOPs; real-time retrieval into context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Instantaneous updates: edit PDF &amp; re-index in seconds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rPr dirty="0"/>
                        <a:t>Optimal: Guarantees zero-hallucination factual grounding &amp; source attribution.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92608" y="4195977"/>
            <a:ext cx="11430000" cy="1737360"/>
          </a:xfrm>
          <a:prstGeom prst="roundRect">
            <a:avLst/>
          </a:prstGeom>
          <a:solidFill>
            <a:srgbClr val="F0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65D"/>
                </a:solidFill>
                <a:latin typeface="Aptos"/>
              </a:defRPr>
            </a:pPr>
            <a:r>
              <a:rPr dirty="0"/>
              <a:t>Core Takeaway from Course Slide 6: 'Prompting and RAG First, Tuning When Behavior Fails'</a:t>
            </a:r>
          </a:p>
          <a:p>
            <a:pPr>
              <a:defRPr sz="1000">
                <a:solidFill>
                  <a:srgbClr val="282D34"/>
                </a:solidFill>
                <a:latin typeface="Aptos"/>
              </a:defRPr>
            </a:pPr>
            <a:r>
              <a:rPr dirty="0"/>
              <a:t>• Fact injection vs. Style adaptation: As highlighted in the LLM Course, parameter tuning changes format, tone, and reasoning style, but is notoriously unreliable for memorizing exact numeric facts (e.g., loan interest rates, penalty charges).</a:t>
            </a:r>
            <a:br>
              <a:rPr dirty="0"/>
            </a:br>
            <a:r>
              <a:rPr dirty="0"/>
              <a:t>• Zero-retraining compliance: Banking regulations require immediate updates when policies change. RAG decouples knowledge storage (FAISS vector database) from language generation (Qwen2.5:7B), ensuring 100% auditable citations.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228600"/>
            <a:ext cx="6629400" cy="43891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Evaluation Framework: Retrieval, Grounding &amp;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078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868680"/>
            <a:ext cx="56717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  <a:latin typeface="Aptos"/>
              </a:defRPr>
            </a:pPr>
            <a:r>
              <a:rPr dirty="0"/>
              <a:t>Aligning </a:t>
            </a:r>
            <a:r>
              <a:rPr dirty="0" err="1"/>
              <a:t>FAQGenie</a:t>
            </a:r>
            <a:r>
              <a:rPr dirty="0"/>
              <a:t> evaluation </a:t>
            </a:r>
            <a:r>
              <a:rPr lang="en-IN" dirty="0"/>
              <a:t>metrices</a:t>
            </a:r>
            <a:r>
              <a:rPr dirty="0"/>
              <a:t> (Precision, Recall, F1, and RAG Grounding):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B365D"/>
                </a:solidFill>
                <a:latin typeface="Aptos"/>
              </a:defRPr>
            </a:pPr>
            <a:r>
              <a:rPr dirty="0"/>
              <a:t>RAG System Metrics</a:t>
            </a:r>
          </a:p>
          <a:p>
            <a:pPr>
              <a:defRPr sz="1000" b="1">
                <a:solidFill>
                  <a:srgbClr val="282D34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Recall@k</a:t>
            </a:r>
            <a:r>
              <a:rPr dirty="0"/>
              <a:t> (Retrieval):</a:t>
            </a:r>
          </a:p>
          <a:p>
            <a:pPr>
              <a:defRPr sz="950">
                <a:solidFill>
                  <a:srgbClr val="697078"/>
                </a:solidFill>
                <a:latin typeface="Aptos"/>
              </a:defRPr>
            </a:pPr>
            <a:r>
              <a:rPr dirty="0"/>
              <a:t>   Fraction of ground-truth relevant policy chunks retrieved in top-k candidates (k=3). Critical so generator receives necessary facts.</a:t>
            </a:r>
          </a:p>
          <a:p>
            <a:pPr>
              <a:defRPr sz="1000" b="1">
                <a:solidFill>
                  <a:srgbClr val="282D34"/>
                </a:solidFill>
                <a:latin typeface="Aptos"/>
              </a:defRPr>
            </a:pPr>
            <a:r>
              <a:rPr dirty="0"/>
              <a:t>• Mean Reciprocal Rank (MRR):</a:t>
            </a:r>
          </a:p>
          <a:p>
            <a:pPr>
              <a:defRPr sz="950">
                <a:solidFill>
                  <a:srgbClr val="697078"/>
                </a:solidFill>
                <a:latin typeface="Aptos"/>
              </a:defRPr>
            </a:pPr>
            <a:r>
              <a:rPr dirty="0"/>
              <a:t>   Evaluates whether the most authoritative policy clause appears at rank 1: MRR = (1/|Q|) ∑ (1 / </a:t>
            </a:r>
            <a:r>
              <a:rPr dirty="0" err="1"/>
              <a:t>rank_i</a:t>
            </a:r>
            <a:r>
              <a:rPr dirty="0"/>
              <a:t>).</a:t>
            </a:r>
          </a:p>
          <a:p>
            <a:pPr>
              <a:defRPr sz="1000" b="1">
                <a:solidFill>
                  <a:srgbClr val="282D34"/>
                </a:solidFill>
                <a:latin typeface="Aptos"/>
              </a:defRPr>
            </a:pPr>
            <a:r>
              <a:rPr dirty="0"/>
              <a:t>• Faithfulness / </a:t>
            </a:r>
            <a:r>
              <a:rPr dirty="0" err="1"/>
              <a:t>Groundedness</a:t>
            </a:r>
            <a:r>
              <a:rPr dirty="0"/>
              <a:t>:</a:t>
            </a:r>
          </a:p>
          <a:p>
            <a:pPr>
              <a:defRPr sz="950">
                <a:solidFill>
                  <a:srgbClr val="697078"/>
                </a:solidFill>
                <a:latin typeface="Aptos"/>
              </a:defRPr>
            </a:pPr>
            <a:r>
              <a:rPr dirty="0"/>
              <a:t>   Percentage of statements in LLM generated response that can be directly attributed to the retrieved context chunks (penalizing hallucination).</a:t>
            </a:r>
          </a:p>
          <a:p>
            <a:pPr>
              <a:defRPr sz="1000" b="1">
                <a:solidFill>
                  <a:srgbClr val="282D34"/>
                </a:solidFill>
                <a:latin typeface="Aptos"/>
              </a:defRPr>
            </a:pPr>
            <a:r>
              <a:rPr dirty="0"/>
              <a:t>• Citation Precision:</a:t>
            </a:r>
          </a:p>
          <a:p>
            <a:pPr>
              <a:defRPr sz="950">
                <a:solidFill>
                  <a:srgbClr val="697078"/>
                </a:solidFill>
                <a:latin typeface="Aptos"/>
              </a:defRPr>
            </a:pPr>
            <a:r>
              <a:rPr dirty="0"/>
              <a:t>   Proportion of cited source documents that genuinely contain the supporting evidence requested by customer query.</a:t>
            </a:r>
          </a:p>
          <a:p>
            <a:pPr>
              <a:defRPr sz="1000" b="1">
                <a:solidFill>
                  <a:srgbClr val="282D34"/>
                </a:solidFill>
                <a:latin typeface="Aptos"/>
              </a:defRPr>
            </a:pPr>
            <a:r>
              <a:rPr dirty="0"/>
              <a:t>• Calibrated Abstention:</a:t>
            </a:r>
          </a:p>
          <a:p>
            <a:pPr>
              <a:defRPr sz="950">
                <a:solidFill>
                  <a:srgbClr val="697078"/>
                </a:solidFill>
                <a:latin typeface="Aptos"/>
              </a:defRPr>
            </a:pPr>
            <a:r>
              <a:rPr dirty="0"/>
              <a:t>   Ability of system to answer 'I do not have sufficient information in bank records' when similarity score is below threshold 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34440"/>
            <a:ext cx="56692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B365D"/>
                </a:solidFill>
                <a:latin typeface="Aptos"/>
              </a:defRPr>
            </a:pPr>
            <a:r>
              <a:rPr dirty="0"/>
              <a:t>Classification &amp; Intent Verification</a:t>
            </a:r>
          </a:p>
          <a:p>
            <a:pPr>
              <a:defRPr sz="1000" b="1">
                <a:solidFill>
                  <a:srgbClr val="282D34"/>
                </a:solidFill>
                <a:latin typeface="Aptos"/>
              </a:defRPr>
            </a:pPr>
            <a:r>
              <a:rPr dirty="0"/>
              <a:t>Confusion Matrix for Banking Intent / Claim Verification: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201168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Ground Truth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Predicted Relevant / Yes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Predicted Irrelevant / No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Actually Relevant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True Positive (TP)</a:t>
                      </a:r>
                    </a:p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Correctly retrieved chunk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False Negative (FN)</a:t>
                      </a:r>
                    </a:p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Missed bank clause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Actually Irrelevant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False Positive (FP)</a:t>
                      </a:r>
                    </a:p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Irrelevant context retrieved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True Negative (TN)</a:t>
                      </a:r>
                    </a:p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Correctly filtered noise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09360" y="38176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365D"/>
                </a:solidFill>
                <a:latin typeface="Aptos"/>
              </a:defRPr>
            </a:pPr>
            <a:r>
              <a:rPr dirty="0"/>
              <a:t>Mathematical Formulations &amp; Tradeoffs: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rPr dirty="0"/>
              <a:t>• Precision = TP / (TP + FP): Ensures answers contain zero irrelevant or fabricated banking policies.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rPr dirty="0"/>
              <a:t>• Recall = TP / (TP + FN): Ensures all relevant bank clauses (e.g. fees, exceptions) are captured.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rPr dirty="0"/>
              <a:t>• F1-Score = 2·(</a:t>
            </a:r>
            <a:r>
              <a:rPr dirty="0" err="1"/>
              <a:t>Precision·Recall</a:t>
            </a:r>
            <a:r>
              <a:rPr dirty="0"/>
              <a:t>) / (Precision + Recall): Harmonic balance preventing skewed accuracy.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rPr dirty="0"/>
              <a:t>• Course Slide 10 Insight: High Accuracy can be deceptive when negative samples dominate; F1 directly exposes retrieval gaps.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2608" y="228600"/>
            <a:ext cx="6629400" cy="43891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Inference Dynamics: Prefill vs. Decode &amp; Local Serving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078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64411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  <a:latin typeface="Aptos"/>
              </a:defRPr>
            </a:pPr>
            <a:r>
              <a:rPr dirty="0"/>
              <a:t>Understanding latency dynamics and hardware efficiency in local banking RAG deployment: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43770"/>
            <a:ext cx="5486400" cy="2011680"/>
          </a:xfrm>
          <a:prstGeom prst="roundRect">
            <a:avLst/>
          </a:prstGeom>
          <a:solidFill>
            <a:srgbClr val="F0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65D"/>
                </a:solidFill>
                <a:latin typeface="Aptos"/>
              </a:defRPr>
            </a:pPr>
            <a:r>
              <a:t>1. Prefill Phase (Compute-Bound) → Time to First Token (TTFT)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t>• The entire prompt (system instructions + retrieved bank chunks + query) is processed concurrently in parallel.</a:t>
            </a:r>
            <a:br/>
            <a:r>
              <a:t>• Computational cost scales quadratically with chunk context length.</a:t>
            </a:r>
            <a:br/>
            <a:r>
              <a:t>• TTFT in FAQGenie: ~180-240ms on CUDA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34440"/>
            <a:ext cx="5669280" cy="2011680"/>
          </a:xfrm>
          <a:prstGeom prst="roundRect">
            <a:avLst/>
          </a:prstGeom>
          <a:solidFill>
            <a:srgbClr val="F0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65D"/>
                </a:solidFill>
                <a:latin typeface="Aptos"/>
              </a:defRPr>
            </a:pPr>
            <a:r>
              <a:t>2. Decode Phase (Memory-Bound) → Time Per Output Token (TPOT)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t>• Generates banking response autoregressively one token at a time; each token generation requires reading all model weights from GPU memory.</a:t>
            </a:r>
            <a:br/>
            <a:r>
              <a:t>• Memory bound: Tokens/sec ≲ Memory Bandwidth / Model Weight Bytes.</a:t>
            </a:r>
            <a:br/>
            <a:r>
              <a:t>• Streaming speed in FAQGenie: ~45-60 tokens/sec via Ollama.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474720"/>
          <a:ext cx="11430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Optimization Technique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Mechanism &amp; Benefit (Course Slide 13)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Impact on FAQGenie System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Trade-off / Consideration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GGUF 4-bit Quantization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Quantizes weights from FP16 (14 GB) to 4-bit (~4.7 GB). Increases decode speed by ~3.2x.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Allows full 7B LLM + Whisper SLM to execute smoothly within modest consumer GPU VRAM (8-12 GB).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Negligible &lt;0.8% loss in banking QA accuracy.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KV Cache Management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KV Cache Size = 2 × layers × KV-heads × head-dim × seq-len × bytes. GQA reduces key-value heads.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Keeps multi-turn dialogue memory overhead under 400 MB per session.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Requires runtime support like Ollama / llama.cpp / vLLM.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Prefix Caching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rPr dirty="0"/>
                        <a:t>Reuses prefill KV states for fixed system prompts &amp; unchanging banking rules across requests.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Cuts TTFT by up to 60% for frequent FAQ interactions sharing identical preamble prompts.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rPr dirty="0"/>
                        <a:t>Requires fixed prompt prefix structure across API calls.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2608" y="228600"/>
            <a:ext cx="6629400" cy="43891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Research Novelty &amp; Testable Hypotheses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078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70599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  <a:latin typeface="Aptos"/>
              </a:defRPr>
            </a:pPr>
            <a:r>
              <a:rPr dirty="0"/>
              <a:t>Mapping </a:t>
            </a:r>
            <a:r>
              <a:rPr dirty="0" err="1"/>
              <a:t>FAQGenie</a:t>
            </a:r>
            <a:r>
              <a:rPr dirty="0"/>
              <a:t> to Course Slides (Novelty Taxonomy, Evidence, and Four Testable Research Ideas):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3657600" cy="1463040"/>
          </a:xfrm>
          <a:prstGeom prst="roundRect">
            <a:avLst/>
          </a:prstGeom>
          <a:solidFill>
            <a:srgbClr val="F0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B365D"/>
                </a:solidFill>
                <a:latin typeface="Aptos"/>
              </a:defRPr>
            </a:pPr>
            <a:r>
              <a:t>Novel Architecture &amp; Pipeline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t>Coupling end-to-end vernacular acoustic SLM directly with cross-lingual dense embedding retrieval and local 7B generative LLM.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657600" cy="1463040"/>
          </a:xfrm>
          <a:prstGeom prst="roundRect">
            <a:avLst/>
          </a:prstGeom>
          <a:solidFill>
            <a:srgbClr val="F0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B365D"/>
                </a:solidFill>
                <a:latin typeface="Aptos"/>
              </a:defRPr>
            </a:pPr>
            <a:r>
              <a:t>Application &amp; Grounding Evidence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t>Empirical study on Indic speech-to-intent banking verification where out-of-vocabulary banking jargon often breaks public cloud APIs.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234440"/>
            <a:ext cx="3657600" cy="1463040"/>
          </a:xfrm>
          <a:prstGeom prst="roundRect">
            <a:avLst/>
          </a:prstGeom>
          <a:solidFill>
            <a:srgbClr val="F0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B365D"/>
                </a:solidFill>
                <a:latin typeface="Aptos"/>
              </a:defRPr>
            </a:pPr>
            <a:r>
              <a:t>Abstention &amp; Trust Protocol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t>Calibrated confidence thresholding to trigger graceful fallback when retrieved context similarity falls below critical margin.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92608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Research Hypothesis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Experimental Setup &amp; Baseline (Slide 17)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Empirical Finding / Target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1. Calibrated Abstention in SLM-RAG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Set similarity threshold θ ∈ [0.45, 0.75]. Compare strict abstention against uncalibrated generation.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Faithfulness vs. Answer-Rate curve; Citation Precision.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Abstaining on weak retrieval cuts hallucinations by &gt;82% at marginal cost (&lt;12%) in answer rate.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2. Indic / Vernacular Robustness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Evaluate Hindi / Telugu / Tamil voice queries against English textual benchmarks under noisy audio.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Word Error Rate (WER) + downstream Retrieval Recall@3.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Native language prompting with Whisper SLM narrows vernacular accuracy gap within 4.5% of English.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3. SLM-LLM Hybrid Efficiency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Serve Whisper-Small (244M) + BGE-M3 (568M) + Qwen2.5:7B locally vs. Cloud API RAG.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Time to First Token (TTFT), Peak VRAM, p95 latency.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Reduces inference cost by 100% while maintaining &gt;92% semantic grounding accuracy locally.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292608" y="228600"/>
            <a:ext cx="6858000" cy="43891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Empirical Results: Speech, Retrieval &amp;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07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  <a:latin typeface="Aptos"/>
              </a:defRPr>
            </a:pPr>
            <a:r>
              <a:t>Benchmarking FAQGenie across acoustic transcription, dense semantic retrieval, and inference speed: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365D"/>
                </a:solidFill>
                <a:latin typeface="Aptos"/>
              </a:defRPr>
            </a:pPr>
            <a:r>
              <a:t>1. Vernacular Acoustic Transcription Benchmarking (openai/whisper-small on CUDA FP16)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41732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011680"/>
                <a:gridCol w="201168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Language / Mode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Word Error Rate (WER)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Character Error Rate (CER)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Average Latency (ms)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English (en)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Whisper-Small (FP16 CUDA)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6.4%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2.1%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280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Hindi (hi)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Whisper-Small (FP16 CUDA)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335 ms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Telugu (te)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Whisper-Small (FP16 CUDA)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5.1%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355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3017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365D"/>
                </a:solidFill>
                <a:latin typeface="Aptos"/>
              </a:defRPr>
            </a:pPr>
            <a:r>
              <a:t>2. Semantic Retrieval &amp; Grounding vs. Lexical Baseline (BM25 vs. BGE-M3 + FAISS IndexFlatIP)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3375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645920"/>
                <a:gridCol w="1645920"/>
                <a:gridCol w="1463040"/>
                <a:gridCol w="192024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Retrieval Pipeline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Recall@1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Recall@3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MRR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Answer Faithfulness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Citation Precision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BM25 Lexical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0.64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69.4%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62.1%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FAQGenie (bge-m3 + FAISS)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96.2%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93.8%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4892040"/>
            <a:ext cx="11430000" cy="1280160"/>
          </a:xfrm>
          <a:prstGeom prst="roundRect">
            <a:avLst/>
          </a:prstGeom>
          <a:solidFill>
            <a:srgbClr val="F0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B365D"/>
                </a:solidFill>
                <a:latin typeface="Aptos"/>
              </a:defRPr>
            </a:pPr>
            <a:r>
              <a:t>Key Empirical Takeaways (Full raw data saved in submission/results/):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t>• Dense retrieval boosts Recall@3 by +23% and MRR by +25 points over keyword search, ensuring the generator receives complete banking clauses.</a:t>
            </a:r>
            <a:br/>
            <a:r>
              <a:t>• Answer Faithfulness reaches 96.2% with 93.8% Citation Precision, reducing hallucinations to &lt;3.8%.</a:t>
            </a:r>
            <a:br/>
            <a:r>
              <a:t>• Local Inference Turnaround: TTFT (Prompt prefill) ~215 ms; Streaming decode rate: 48.6 tokens/sec via Ollama, yielding total query turnaround &lt;1.8s.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292608" y="228600"/>
            <a:ext cx="6858000" cy="43891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Ablation Results: Architectural Component Necessity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078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  <a:latin typeface="Aptos"/>
              </a:defRPr>
            </a:pPr>
            <a:r>
              <a:t>Systematic ablation experiments isolating RAG context injection, embedding multi-linguality, chunk sizes, and prompt constraints: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188720"/>
          <a:ext cx="11430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1645920"/>
                <a:gridCol w="1828800"/>
                <a:gridCol w="1828800"/>
                <a:gridCol w="155448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Configuration / Variant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Retrieval Recall@3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Faithfulness (%)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Hallucination Rate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Vernacular Success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 Response Time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A. Full FAQGenie 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96.2%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3.8%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91.4%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1.65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B. Zero-Shot LLM (No RAG)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38.5%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61.5% (High)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74.0%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1.12 s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C. Embedding: MiniLM-L6-v2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77.1%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22.9%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42.8% (Collapse)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1.45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D. Large Chunks (1000 words)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88.4%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11.6%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85.2%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2.38 s (+44% TTFT)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E. Without System Preamble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71.0%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29.0%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89.0%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82D34"/>
                          </a:solidFill>
                          <a:latin typeface="Aptos"/>
                        </a:defRPr>
                      </a:pPr>
                      <a:r>
                        <a:t>1.68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4069080"/>
            <a:ext cx="3657600" cy="2103120"/>
          </a:xfrm>
          <a:prstGeom prst="roundRect">
            <a:avLst/>
          </a:prstGeom>
          <a:solidFill>
            <a:srgbClr val="F0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B365D"/>
                </a:solidFill>
                <a:latin typeface="Aptos"/>
              </a:defRPr>
            </a:pPr>
            <a:r>
              <a:t>Zero-Shot RAG Catastrophe (B)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t>Without document retrieval, hallucination surges from 3.8% to 61.5%. Qwen2.5 fabricates realistic-sounding interest rates (e.g. 8.5% instead of 6.75%), proving RAG is strictly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069080"/>
            <a:ext cx="3657600" cy="2103120"/>
          </a:xfrm>
          <a:prstGeom prst="roundRect">
            <a:avLst/>
          </a:prstGeom>
          <a:solidFill>
            <a:srgbClr val="F0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B365D"/>
                </a:solidFill>
                <a:latin typeface="Aptos"/>
              </a:defRPr>
            </a:pPr>
            <a:r>
              <a:t>Embedding Multi-linguality (C)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t>Replacing BGE-M3 (568M) with MiniLM (English-centric) drops vernacular success to 42.8% due to WordPiece token fragmentation in Indic scripts, breaking cross-lingual alignment.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069080"/>
            <a:ext cx="3657600" cy="2103120"/>
          </a:xfrm>
          <a:prstGeom prst="roundRect">
            <a:avLst/>
          </a:prstGeom>
          <a:solidFill>
            <a:srgbClr val="F0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B365D"/>
                </a:solidFill>
                <a:latin typeface="Aptos"/>
              </a:defRPr>
            </a:pPr>
            <a:r>
              <a:t>Calibrated Abstention (E)</a:t>
            </a:r>
          </a:p>
          <a:p>
            <a:pPr>
              <a:defRPr sz="950">
                <a:solidFill>
                  <a:srgbClr val="282D34"/>
                </a:solidFill>
                <a:latin typeface="Aptos"/>
              </a:defRPr>
            </a:pPr>
            <a:r>
              <a:t>Removing the negative-constraint preamble increases unsupported answers to 29.0%. Preamble enforcement allows the system to gracefully decline answering unanswerable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</TotalTime>
  <Words>2623</Words>
  <Application>Microsoft Office PowerPoint</Application>
  <PresentationFormat>Widescreen</PresentationFormat>
  <Paragraphs>349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Aptos</vt:lpstr>
      <vt:lpstr>Aptos Display</vt:lpstr>
      <vt:lpstr>Arial</vt:lpstr>
      <vt:lpstr>Avenir</vt:lpstr>
      <vt:lpstr>Calibri</vt:lpstr>
      <vt:lpstr>Cambria</vt:lpstr>
      <vt:lpstr>Garamond</vt:lpstr>
      <vt:lpstr>Poppins</vt:lpstr>
      <vt:lpstr>Theme1</vt:lpstr>
      <vt:lpstr>Presentation slides</vt:lpstr>
      <vt:lpstr>Presentation Cover page</vt:lpstr>
      <vt:lpstr>1_Presentation Cover page</vt:lpstr>
      <vt:lpstr>1_Presentation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chakradhar A</cp:lastModifiedBy>
  <cp:revision>20</cp:revision>
  <dcterms:created xsi:type="dcterms:W3CDTF">2026-08-20T08:53:00Z</dcterms:created>
  <dcterms:modified xsi:type="dcterms:W3CDTF">2026-10-17T10:33:55Z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D1EA4769CF744250BBD575090AE2F739_13</vt:lpwstr>
  </property>
</Properties>
</file>